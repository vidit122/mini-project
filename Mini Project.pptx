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Montserrat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F163BD-F6CC-44FA-9400-92E60ECA608A}">
  <a:tblStyle styleId="{BBF163BD-F6CC-44FA-9400-92E60ECA60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5.xml"/><Relationship Id="rId33" Type="http://schemas.openxmlformats.org/officeDocument/2006/relationships/font" Target="fonts/Lato-regular.fntdata"/><Relationship Id="rId10" Type="http://schemas.openxmlformats.org/officeDocument/2006/relationships/slide" Target="slides/slide4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35" Type="http://schemas.openxmlformats.org/officeDocument/2006/relationships/font" Target="fonts/Lato-italic.fntdata"/><Relationship Id="rId12" Type="http://schemas.openxmlformats.org/officeDocument/2006/relationships/slide" Target="slides/slide6.xml"/><Relationship Id="rId34" Type="http://schemas.openxmlformats.org/officeDocument/2006/relationships/font" Target="fonts/Lat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La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f43adb798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f43adb798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f43adb79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f43adb79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f43adb79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f43adb79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f43adb798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f43adb798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f43adb798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f43adb798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f43adb798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f43adb798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f43adb798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f43adb798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f43adb798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f43adb798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f43adb79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f43adb79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f43adb798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f43adb798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f43adb798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f43adb798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f43adb798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f43adb798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f43adb798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f43adb798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f43adb798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df43adb798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f43adb798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f43adb798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f43adb798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df43adb798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f43adb798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f43adb798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f43adb798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f43adb798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f43adb798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f43adb798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f43adb798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f43adb798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f43adb798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df43adb798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47975" y="1069450"/>
            <a:ext cx="50175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00">
                <a:latin typeface="Arial"/>
                <a:ea typeface="Arial"/>
                <a:cs typeface="Arial"/>
                <a:sym typeface="Arial"/>
              </a:rPr>
              <a:t>Quantum safe federated learning framework for cyber threat detection in 5G-enabled IOT ecosystems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1297500" y="393750"/>
            <a:ext cx="70389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Introduction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1297500" y="978450"/>
            <a:ext cx="7038900" cy="35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5G-enabled IoT ecosystems generate massive amounts of sensitive network traffic data and are increasingly vulnerable to sophisticated cyber threats such as:  ICMP flood attacks, SYN flood attacks, Port scanning, UDP flood attack, etc.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Traditional centralized deep learning approaches can achieve high accuracy, but they suffer from several problems: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en-GB" sz="15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lack of privacy preservation</a:t>
            </a:r>
            <a:endParaRPr sz="15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en-GB" sz="15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scalability issues</a:t>
            </a:r>
            <a:endParaRPr sz="15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en-GB" sz="15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centralized data sharing risks</a:t>
            </a:r>
            <a:endParaRPr sz="1500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en-GB" sz="150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vulnerability to parameter leakage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To address these limitations, the paper proposes a quantum-safe federated learning framework called </a:t>
            </a: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DeepFL-CTI.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Problem Statement addressed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307850"/>
            <a:ext cx="6695700" cy="23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2200">
                <a:latin typeface="Arial"/>
                <a:ea typeface="Arial"/>
                <a:cs typeface="Arial"/>
                <a:sym typeface="Arial"/>
              </a:rPr>
              <a:t>Cyber Threats targeting 5G IOT ecosystems (ICMP </a:t>
            </a:r>
            <a:r>
              <a:rPr lang="en-GB" sz="2200">
                <a:latin typeface="Arial"/>
                <a:ea typeface="Arial"/>
                <a:cs typeface="Arial"/>
                <a:sym typeface="Arial"/>
              </a:rPr>
              <a:t>flood, SYN flood, port scans, etc)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57823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2200">
                <a:latin typeface="Arial"/>
                <a:ea typeface="Arial"/>
                <a:cs typeface="Arial"/>
                <a:sym typeface="Arial"/>
              </a:rPr>
              <a:t>Cyber Threats targeting FL (model parameter leakage, insecure parameter sharing, privacy leakage during aggregation, etc)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Key Contributions of the Paper 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054175"/>
            <a:ext cx="7038900" cy="36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b="1" i="1" lang="en-GB" u="sng">
                <a:latin typeface="Arial"/>
                <a:ea typeface="Arial"/>
                <a:cs typeface="Arial"/>
                <a:sym typeface="Arial"/>
              </a:rPr>
              <a:t>Hybrid MobileNet-V1 + BiGRU Model:</a:t>
            </a:r>
            <a:r>
              <a:rPr b="1" lang="en-GB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The paper proposes a hybrid deep learning architecture combining MobileNet-V1 and Bidirectional GRU (BiGRU) for efficient cyber-threat detection in 5G IoT environments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b="1" i="1" lang="en-GB" u="sng">
                <a:latin typeface="Arial"/>
                <a:ea typeface="Arial"/>
                <a:cs typeface="Arial"/>
                <a:sym typeface="Arial"/>
              </a:rPr>
              <a:t>Federated Learning Framework: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The framework enables: collaborative learning, decentralized training and privacy-preserving model updates without sharing raw client data.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b="1" i="1" lang="en-GB" u="sng">
                <a:latin typeface="Arial"/>
                <a:ea typeface="Arial"/>
                <a:cs typeface="Arial"/>
                <a:sym typeface="Arial"/>
              </a:rPr>
              <a:t>Post-Quantum Secure Aggregation: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The framework integrates: lattice-based cryptography Learning With Errors (LWE) to provide quantum-safe secure communication between clients and server.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1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b="1" i="1" lang="en-GB" u="sng">
                <a:latin typeface="Arial"/>
                <a:ea typeface="Arial"/>
                <a:cs typeface="Arial"/>
                <a:sym typeface="Arial"/>
              </a:rPr>
              <a:t>Evaluation on 5G-NIDD Dataset: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The proposed framework is evaluated using multiple metrics: accuracy, precision, recall, F1-score, TPR, FPR, FNR, NPV and outperforms previous related works.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System Model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108300"/>
            <a:ext cx="7038900" cy="33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Trusted Authority (TA):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Responsible for -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generating cryptographic keys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establishing secure communication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IoT Clients: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Responsible for -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local training on private IoT data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encrypting model updates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Cloud Server: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Responsible for -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aggregating encrypted model updates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updating the global model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Workflow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97500" y="1129975"/>
            <a:ext cx="7038900" cy="37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Step 1: </a:t>
            </a: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Dataset Preparation</a:t>
            </a: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The 5G-NIDD dataset is: cleaned, preprocessed, normalized encoded, etc. Then divided across multiple IoT clients. Each client receives its own local private dataset.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Step 2: Key Generation (Trusted Authority):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The Trusted Authority generates public key and private key using the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LWE Cryptographic Scheme.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 = As + e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Arial"/>
                <a:ea typeface="Arial"/>
                <a:cs typeface="Arial"/>
                <a:sym typeface="Arial"/>
              </a:rPr>
              <a:t>Where: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-GB">
                <a:latin typeface="Arial"/>
                <a:ea typeface="Arial"/>
                <a:cs typeface="Arial"/>
                <a:sym typeface="Arial"/>
              </a:rPr>
              <a:t>A → random matrix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-GB">
                <a:latin typeface="Arial"/>
                <a:ea typeface="Arial"/>
                <a:cs typeface="Arial"/>
                <a:sym typeface="Arial"/>
              </a:rPr>
              <a:t>s → secret/private vector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-GB">
                <a:latin typeface="Arial"/>
                <a:ea typeface="Arial"/>
                <a:cs typeface="Arial"/>
                <a:sym typeface="Arial"/>
              </a:rPr>
              <a:t>e → small error vector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-GB">
                <a:latin typeface="Arial"/>
                <a:ea typeface="Arial"/>
                <a:cs typeface="Arial"/>
                <a:sym typeface="Arial"/>
              </a:rPr>
              <a:t>b → public component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297500" y="393750"/>
            <a:ext cx="7038900" cy="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Workflow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1297500" y="1129975"/>
            <a:ext cx="7038900" cy="37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Step 3: Distribution of Initial Global Model</a:t>
            </a: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The cloud server initializes MobileNet-V1 + BiGRU global model. The server sends initial model weights and public encryption key to all IoT clients.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Step 4: Secure Aggregation at Server: </a:t>
            </a:r>
            <a:endParaRPr b="1" i="1" sz="16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Each IoT client: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receives global model weights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trains locally on its private data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updates model parameters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Using MobileNet + BIGRU model</a:t>
            </a:r>
            <a:endParaRPr b="1" i="1" sz="16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1297500" y="393750"/>
            <a:ext cx="7038900" cy="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Workflow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1297500" y="1129975"/>
            <a:ext cx="7038900" cy="37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Step 5: </a:t>
            </a: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Encryption of Local Model Updates </a:t>
            </a: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After local training each client encrypts updated model weights using LWE Encryption. This ensures privacy preservation and quantum-safe communication. So client never sends raw data only encrypted data to the server.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Step 6: Secure Aggregation at Server: </a:t>
            </a:r>
            <a:endParaRPr b="1" i="1" sz="16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The cloud server performs: Federated Averaging (FedAvg) on encrypted model parameters.The server: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aggregates updates from all clients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creates updated global model weights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WITHOUT accessing any raw data.</a:t>
            </a:r>
            <a:endParaRPr b="1" i="1" sz="1600" u="sng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1297500" y="393750"/>
            <a:ext cx="7038900" cy="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Workflow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1297500" y="1129975"/>
            <a:ext cx="7038900" cy="37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Step 7: </a:t>
            </a: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Decryption of Aggregated Model</a:t>
            </a: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Using the private key generated by Trusted Authority, the aggregated global model is decrypted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to obtain updated global parameters.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Step 8</a:t>
            </a: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Global Model Update</a:t>
            </a: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The server updates Global DeepFL-CTI Model with newly aggregated parameters.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-GB" sz="1600" u="sng">
                <a:latin typeface="Arial"/>
                <a:ea typeface="Arial"/>
                <a:cs typeface="Arial"/>
                <a:sym typeface="Arial"/>
              </a:rPr>
              <a:t>Step 9: Redistribution to Clients: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Updated global weights are again sent to all clients. The FL cycle repeats for multiple communication rounds until convergence is achieved.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1297500" y="393750"/>
            <a:ext cx="7038900" cy="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Final Evaluation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1297500" y="1151625"/>
            <a:ext cx="7038900" cy="33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After convergence the final global model performs </a:t>
            </a:r>
            <a:r>
              <a:rPr lang="en-GB" sz="1650">
                <a:latin typeface="Arial"/>
                <a:ea typeface="Arial"/>
                <a:cs typeface="Arial"/>
                <a:sym typeface="Arial"/>
              </a:rPr>
              <a:t>Cyber-Threat Detection 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on 5G IoT network traffic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Detecting: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ICMP flood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UDP flood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SYN scan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DDoS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port scan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other attacks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1297500" y="328800"/>
            <a:ext cx="7038900" cy="6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My approach 1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3" title="approach1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600" y="1046700"/>
            <a:ext cx="6391275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1297500" y="328775"/>
            <a:ext cx="7038900" cy="6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My approach 2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24" title="approach2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363" y="1065763"/>
            <a:ext cx="6391275" cy="39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Results &amp; Discussion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5"/>
          <p:cNvSpPr txBox="1"/>
          <p:nvPr>
            <p:ph idx="1" type="body"/>
          </p:nvPr>
        </p:nvSpPr>
        <p:spPr>
          <a:xfrm>
            <a:off x="1297500" y="1227425"/>
            <a:ext cx="7038900" cy="32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The best results came from approach 1 after implementing DeepFL-CTI model for 13 rounds for k = 5.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Accuracy = </a:t>
            </a: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97.77%                                    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F1 Score = </a:t>
            </a: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0.9772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Macro Avg =</a:t>
            </a: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 0.90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Precision =</a:t>
            </a: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 0.9777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1297500" y="393750"/>
            <a:ext cx="70389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Approach 1 Results Comparison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844200" y="4161925"/>
            <a:ext cx="73473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</a:t>
            </a:r>
            <a:r>
              <a:rPr lang="en-GB"/>
              <a:t> = Paper results, b = My approach 1 results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AC = Accuracy,                  PC = Precision,                          F1 = F1 Score</a:t>
            </a:r>
            <a:endParaRPr/>
          </a:p>
        </p:txBody>
      </p:sp>
      <p:graphicFrame>
        <p:nvGraphicFramePr>
          <p:cNvPr id="215" name="Google Shape;215;p26"/>
          <p:cNvGraphicFramePr/>
          <p:nvPr/>
        </p:nvGraphicFramePr>
        <p:xfrm>
          <a:off x="8442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{BBF163BD-F6CC-44FA-9400-92E60ECA608A}</a:tableStyleId>
              </a:tblPr>
              <a:tblGrid>
                <a:gridCol w="1049625"/>
                <a:gridCol w="1049625"/>
                <a:gridCol w="1049625"/>
                <a:gridCol w="1049625"/>
                <a:gridCol w="1049625"/>
                <a:gridCol w="1049625"/>
                <a:gridCol w="1049625"/>
              </a:tblGrid>
              <a:tr h="43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K value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AC(a)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PC(a)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F1(a)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AC(b)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PC(b)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F1(b)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99.80%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0.9962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0.9968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95.44%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0.9557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0.9544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99.82%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0.9953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0.9957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97.77%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0.9777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0.9772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99.73%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0.9959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0.9956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95.34%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0.9561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0.9537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99.75%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0.9965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0.9946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95.55%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0.9572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0.9555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type="title"/>
          </p:nvPr>
        </p:nvSpPr>
        <p:spPr>
          <a:xfrm>
            <a:off x="1297500" y="393750"/>
            <a:ext cx="70389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Approach 2 Results Comparison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844200" y="4161925"/>
            <a:ext cx="73473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= Paper results, b = My approach 2 results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AC = Accuracy,                  PC = Precision,                          F1 = F1 Score</a:t>
            </a:r>
            <a:endParaRPr/>
          </a:p>
        </p:txBody>
      </p:sp>
      <p:graphicFrame>
        <p:nvGraphicFramePr>
          <p:cNvPr id="222" name="Google Shape;222;p27"/>
          <p:cNvGraphicFramePr/>
          <p:nvPr/>
        </p:nvGraphicFramePr>
        <p:xfrm>
          <a:off x="8442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{BBF163BD-F6CC-44FA-9400-92E60ECA608A}</a:tableStyleId>
              </a:tblPr>
              <a:tblGrid>
                <a:gridCol w="1049625"/>
                <a:gridCol w="1049625"/>
                <a:gridCol w="1049625"/>
                <a:gridCol w="1049625"/>
                <a:gridCol w="1049625"/>
                <a:gridCol w="1049625"/>
                <a:gridCol w="1049625"/>
              </a:tblGrid>
              <a:tr h="43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K value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AC(a)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PC(a)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F1(a)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AC(b)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PC(b)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F1(b)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99.80%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0.9962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0.9968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97.26%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0.9737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0.9729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99.82%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0.9953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0.9957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94.43%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0.9451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0.9445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99.73%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0.9959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0.9956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93.78%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0.9419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0.9382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3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99.75%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0.9965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0.9946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92.88%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0.9322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0.9291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type="title"/>
          </p:nvPr>
        </p:nvSpPr>
        <p:spPr>
          <a:xfrm>
            <a:off x="1297500" y="393750"/>
            <a:ext cx="7038900" cy="7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Reasons for 2-4% difference of results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8"/>
          <p:cNvSpPr txBox="1"/>
          <p:nvPr>
            <p:ph idx="1" type="body"/>
          </p:nvPr>
        </p:nvSpPr>
        <p:spPr>
          <a:xfrm>
            <a:off x="1297500" y="1184100"/>
            <a:ext cx="7038900" cy="32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i="1" lang="en-GB" sz="1500" u="sng"/>
              <a:t>Client Data Distribution Differences:</a:t>
            </a:r>
            <a:r>
              <a:rPr lang="en-GB"/>
              <a:t>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Federated Learning is very sensitive to Non-IID client partitioning. Small changes in attack distribution, class balance and client heterogeneit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can easily change accuracy by small %.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i="1" lang="en-GB" sz="1500" u="sng"/>
              <a:t>Encryption Overhead:</a:t>
            </a:r>
            <a:r>
              <a:rPr b="1" i="1" lang="en-GB" u="sng"/>
              <a:t> </a:t>
            </a:r>
            <a:r>
              <a:rPr lang="en-GB"/>
              <a:t>Integrating: LWE encryption and secure aggregation can slightly affect:</a:t>
            </a:r>
            <a:endParaRPr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/>
              <a:t>convergence</a:t>
            </a:r>
            <a:endParaRPr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/>
              <a:t>numerical precision</a:t>
            </a:r>
            <a:endParaRPr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/>
              <a:t>aggregation stability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Especially if quantization/scaling is used.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title"/>
          </p:nvPr>
        </p:nvSpPr>
        <p:spPr>
          <a:xfrm>
            <a:off x="1297500" y="393750"/>
            <a:ext cx="7038900" cy="7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Reasons for 2-4% difference of results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9"/>
          <p:cNvSpPr txBox="1"/>
          <p:nvPr>
            <p:ph idx="1" type="body"/>
          </p:nvPr>
        </p:nvSpPr>
        <p:spPr>
          <a:xfrm>
            <a:off x="1297500" y="1184100"/>
            <a:ext cx="7038900" cy="32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i="1" lang="en-GB" sz="1500" u="sng">
                <a:latin typeface="Arial"/>
                <a:ea typeface="Arial"/>
                <a:cs typeface="Arial"/>
                <a:sym typeface="Arial"/>
              </a:rPr>
              <a:t>Fewer Extensive search and ideal scenario</a:t>
            </a:r>
            <a:r>
              <a:rPr b="1" i="1" lang="en-GB" sz="1500" u="sng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Paper likely works in optimized convergence, stronger local training and ideal setup. Paper likely used extensive tuning, many experiments, manually optimized setup.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i="1" lang="en-GB" sz="1500" u="sng">
                <a:latin typeface="Arial"/>
                <a:ea typeface="Arial"/>
                <a:cs typeface="Arial"/>
                <a:sym typeface="Arial"/>
              </a:rPr>
              <a:t>Statistical Variance in FL</a:t>
            </a:r>
            <a:r>
              <a:rPr b="1" i="1" lang="en-GB" sz="1500" u="sng"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i="1" lang="en-GB" u="sng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Federated Learning is inherently: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stochastic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unstable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client-sensitive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i="1" lang="en-GB" sz="1500" u="sng">
                <a:latin typeface="Arial"/>
                <a:ea typeface="Arial"/>
                <a:cs typeface="Arial"/>
                <a:sym typeface="Arial"/>
              </a:rPr>
              <a:t>Random Client Selection: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‘random.sample()’ This changes: participating clients, local gradients and aggregation path.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1297500" y="393750"/>
            <a:ext cx="70389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Limitations and Future Scope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1297500" y="1129975"/>
            <a:ext cx="7038900" cy="3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i="1" lang="en-GB" sz="1500" u="sng">
                <a:latin typeface="Arial"/>
                <a:ea typeface="Arial"/>
                <a:cs typeface="Arial"/>
                <a:sym typeface="Arial"/>
              </a:rPr>
              <a:t>Limited Real-Time Deployment Validation: </a:t>
            </a:r>
            <a:endParaRPr b="1" i="1" sz="1500" u="sng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The framework is tested mainly on benchmark datasets and simulated FL settings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But not on: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actual live 5G IoT infrastructure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production-grade deployments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So real-world latency and scalability remain uncertain.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i="1" lang="en-GB" sz="1500" u="sng">
                <a:latin typeface="Arial"/>
                <a:ea typeface="Arial"/>
                <a:cs typeface="Arial"/>
                <a:sym typeface="Arial"/>
              </a:rPr>
              <a:t>Integration with Blockchain: 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Blockchain can be integrated for -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decentralized trust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tamper-proof aggregation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secure client authentication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This is a very strong future scope point.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>
            <p:ph type="title"/>
          </p:nvPr>
        </p:nvSpPr>
        <p:spPr>
          <a:xfrm>
            <a:off x="1297500" y="393750"/>
            <a:ext cx="70389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Limitations and Future Scope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1"/>
          <p:cNvSpPr txBox="1"/>
          <p:nvPr>
            <p:ph idx="1" type="body"/>
          </p:nvPr>
        </p:nvSpPr>
        <p:spPr>
          <a:xfrm>
            <a:off x="1297500" y="1129975"/>
            <a:ext cx="7038900" cy="3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i="1" lang="en-GB" sz="1500" u="sng">
                <a:latin typeface="Arial"/>
                <a:ea typeface="Arial"/>
                <a:cs typeface="Arial"/>
                <a:sym typeface="Arial"/>
              </a:rPr>
              <a:t>Transformer-Based Federated Models</a:t>
            </a:r>
            <a:r>
              <a:rPr b="1" i="1" lang="en-GB" sz="1500" u="sng">
                <a:latin typeface="Arial"/>
                <a:ea typeface="Arial"/>
                <a:cs typeface="Arial"/>
                <a:sym typeface="Arial"/>
              </a:rPr>
              <a:t>: </a:t>
            </a:r>
            <a:endParaRPr b="1" i="1" sz="15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Future work may explore: Transformers, Vision Transformers, Graph Neural Networks, Attention-based IDS, etc for better feature learning.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2400"/>
              </a:spcBef>
              <a:spcAft>
                <a:spcPts val="0"/>
              </a:spcAft>
              <a:buSzPts val="1300"/>
              <a:buChar char="●"/>
            </a:pPr>
            <a:r>
              <a:rPr b="1" i="1" lang="en-GB" sz="1500" u="sng">
                <a:latin typeface="Arial"/>
                <a:ea typeface="Arial"/>
                <a:cs typeface="Arial"/>
                <a:sym typeface="Arial"/>
              </a:rPr>
              <a:t>Explainable AI (XAI) Integration</a:t>
            </a:r>
            <a:r>
              <a:rPr b="1" i="1" lang="en-GB" sz="1500" u="sng"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-GB" sz="2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150">
                <a:latin typeface="Arial"/>
                <a:ea typeface="Arial"/>
                <a:cs typeface="Arial"/>
                <a:sym typeface="Arial"/>
              </a:rPr>
              <a:t>Cybersecurity systems require interpretability.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50">
                <a:latin typeface="Arial"/>
                <a:ea typeface="Arial"/>
                <a:cs typeface="Arial"/>
                <a:sym typeface="Arial"/>
              </a:rPr>
              <a:t>Future systems can integrate: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50">
                <a:latin typeface="Arial"/>
                <a:ea typeface="Arial"/>
                <a:cs typeface="Arial"/>
                <a:sym typeface="Arial"/>
              </a:rPr>
              <a:t>SHAP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50">
                <a:latin typeface="Arial"/>
                <a:ea typeface="Arial"/>
                <a:cs typeface="Arial"/>
                <a:sym typeface="Arial"/>
              </a:rPr>
              <a:t>LIME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50">
                <a:latin typeface="Arial"/>
                <a:ea typeface="Arial"/>
                <a:cs typeface="Arial"/>
                <a:sym typeface="Arial"/>
              </a:rPr>
              <a:t>attention visualization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50">
                <a:latin typeface="Arial"/>
                <a:ea typeface="Arial"/>
                <a:cs typeface="Arial"/>
                <a:sym typeface="Arial"/>
              </a:rPr>
              <a:t>to explain attack predictions.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>
            <p:ph type="title"/>
          </p:nvPr>
        </p:nvSpPr>
        <p:spPr>
          <a:xfrm>
            <a:off x="1297500" y="393750"/>
            <a:ext cx="70389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Limitations and Future Scope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1297500" y="1129975"/>
            <a:ext cx="7038900" cy="3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i="1" lang="en-GB" sz="1500" u="sng">
                <a:latin typeface="Arial"/>
                <a:ea typeface="Arial"/>
                <a:cs typeface="Arial"/>
                <a:sym typeface="Arial"/>
              </a:rPr>
              <a:t>Limited Analysis of Extreme Non-IID Scenarios</a:t>
            </a:r>
            <a:r>
              <a:rPr b="1" i="1" lang="en-GB" sz="1500" u="sng">
                <a:latin typeface="Arial"/>
                <a:ea typeface="Arial"/>
                <a:cs typeface="Arial"/>
                <a:sym typeface="Arial"/>
              </a:rPr>
              <a:t>: </a:t>
            </a:r>
            <a:endParaRPr b="1" i="1" sz="1500" u="sng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Real-world IoT systems may contain: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3211" lvl="0" marL="9144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84615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highly skewed attack classes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3211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4615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clients with very little data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3211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4615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completely different traffic patterns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which may reduce convergence.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98">
              <a:latin typeface="Arial"/>
              <a:ea typeface="Arial"/>
              <a:cs typeface="Arial"/>
              <a:sym typeface="Arial"/>
            </a:endParaRPr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i="1" lang="en-GB" sz="1500" u="sng">
                <a:latin typeface="Arial"/>
                <a:ea typeface="Arial"/>
                <a:cs typeface="Arial"/>
                <a:sym typeface="Arial"/>
              </a:rPr>
              <a:t>No Robust Defense Against Malicious Clients:</a:t>
            </a:r>
            <a:endParaRPr b="1" i="1" sz="1500" u="sng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Paper does not deeply address: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1464" lvl="0" marL="9144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69231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poisoning attacks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1464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9231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Byzantine attacks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1464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1818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malicious model updates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type="title"/>
          </p:nvPr>
        </p:nvSpPr>
        <p:spPr>
          <a:xfrm>
            <a:off x="1297500" y="393750"/>
            <a:ext cx="70389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Limitations and Future Scope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 txBox="1"/>
          <p:nvPr>
            <p:ph idx="1" type="body"/>
          </p:nvPr>
        </p:nvSpPr>
        <p:spPr>
          <a:xfrm>
            <a:off x="1297500" y="1129975"/>
            <a:ext cx="7038900" cy="3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i="1" lang="en-GB" sz="1500" u="sng">
                <a:latin typeface="Arial"/>
                <a:ea typeface="Arial"/>
                <a:cs typeface="Arial"/>
                <a:sym typeface="Arial"/>
              </a:rPr>
              <a:t>Dataset Dependency</a:t>
            </a:r>
            <a:r>
              <a:rPr b="1" i="1" lang="en-GB" sz="1500" u="sng">
                <a:latin typeface="Arial"/>
                <a:ea typeface="Arial"/>
                <a:cs typeface="Arial"/>
                <a:sym typeface="Arial"/>
              </a:rPr>
              <a:t>: </a:t>
            </a:r>
            <a:endParaRPr b="1" i="1" sz="1500" u="sng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The model is evaluated mainly on 5G-NIDD dataset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Performance on: other IoT datasets, unseen attacks, zero-day attacks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is not extensively validated.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959" lvl="0" marL="457200" rtl="0" algn="l">
              <a:spcBef>
                <a:spcPts val="2400"/>
              </a:spcBef>
              <a:spcAft>
                <a:spcPts val="0"/>
              </a:spcAft>
              <a:buSzPct val="91000"/>
              <a:buFont typeface="Arial"/>
              <a:buChar char="●"/>
            </a:pPr>
            <a:r>
              <a:rPr b="1" i="1" lang="en-GB" sz="1429" u="sng">
                <a:latin typeface="Arial"/>
                <a:ea typeface="Arial"/>
                <a:cs typeface="Arial"/>
                <a:sym typeface="Arial"/>
              </a:rPr>
              <a:t>Lightweight Encryption Schemes:</a:t>
            </a:r>
            <a:r>
              <a:rPr b="1" lang="en-GB" sz="2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150">
                <a:latin typeface="Arial"/>
                <a:ea typeface="Arial"/>
                <a:cs typeface="Arial"/>
                <a:sym typeface="Arial"/>
              </a:rPr>
              <a:t>LWE is secure but computationally expensive.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50">
                <a:latin typeface="Arial"/>
                <a:ea typeface="Arial"/>
                <a:cs typeface="Arial"/>
                <a:sym typeface="Arial"/>
              </a:rPr>
              <a:t>Future work may explore: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-293211" lvl="0" marL="9144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95652"/>
              <a:buFont typeface="Arial"/>
              <a:buChar char="●"/>
            </a:pPr>
            <a:r>
              <a:rPr lang="en-GB" sz="1150">
                <a:latin typeface="Arial"/>
                <a:ea typeface="Arial"/>
                <a:cs typeface="Arial"/>
                <a:sym typeface="Arial"/>
              </a:rPr>
              <a:t>optimized lattice cryptography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-293211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5652"/>
              <a:buFont typeface="Arial"/>
              <a:buChar char="●"/>
            </a:pPr>
            <a:r>
              <a:rPr lang="en-GB" sz="1150">
                <a:latin typeface="Arial"/>
                <a:ea typeface="Arial"/>
                <a:cs typeface="Arial"/>
                <a:sym typeface="Arial"/>
              </a:rPr>
              <a:t>lightweight post-quantum schemes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-293211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5652"/>
              <a:buFont typeface="Arial"/>
              <a:buChar char="●"/>
            </a:pPr>
            <a:r>
              <a:rPr lang="en-GB" sz="1150">
                <a:latin typeface="Arial"/>
                <a:ea typeface="Arial"/>
                <a:cs typeface="Arial"/>
                <a:sym typeface="Arial"/>
              </a:rPr>
              <a:t>hybrid encryption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50">
                <a:latin typeface="Arial"/>
                <a:ea typeface="Arial"/>
                <a:cs typeface="Arial"/>
                <a:sym typeface="Arial"/>
              </a:rPr>
              <a:t>for better efficiency.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4"/>
          <p:cNvSpPr txBox="1"/>
          <p:nvPr>
            <p:ph idx="1" type="body"/>
          </p:nvPr>
        </p:nvSpPr>
        <p:spPr>
          <a:xfrm>
            <a:off x="889725" y="833650"/>
            <a:ext cx="7525800" cy="321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3100">
                <a:latin typeface="Arial"/>
                <a:ea typeface="Arial"/>
                <a:cs typeface="Arial"/>
                <a:sym typeface="Arial"/>
              </a:rPr>
              <a:t>THANK YOU</a:t>
            </a:r>
            <a:endParaRPr b="1" sz="3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